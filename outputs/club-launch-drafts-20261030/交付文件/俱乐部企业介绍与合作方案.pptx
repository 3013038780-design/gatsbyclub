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e2252acf4f46f9" /><Relationship Type="http://schemas.openxmlformats.org/officeDocument/2006/relationships/extended-properties" Target="/docProps/app.xml" Id="R38206d473edf499b" /><Relationship Type="http://schemas.openxmlformats.org/officeDocument/2006/relationships/officeDocument" Target="/ppt/presentation.xml" Id="Rba597c1770fe4b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e746563e0e4055"/>
  </p:sldMasterIdLst>
  <p:notesMasterIdLst>
    <p:notesMasterId xmlns:r="http://schemas.openxmlformats.org/officeDocument/2006/relationships" r:id="R4019f24cb41b4eab"/>
  </p:notesMasterIdLst>
  <p:sldIdLst>
    <p:sldId xmlns:r="http://schemas.openxmlformats.org/officeDocument/2006/relationships" id="256" r:id="R18fdc3d0606d486e"/>
    <p:sldId xmlns:r="http://schemas.openxmlformats.org/officeDocument/2006/relationships" id="257" r:id="Raca5453ed7334b79"/>
    <p:sldId xmlns:r="http://schemas.openxmlformats.org/officeDocument/2006/relationships" id="258" r:id="Refce3cfc412c4d5e"/>
    <p:sldId xmlns:r="http://schemas.openxmlformats.org/officeDocument/2006/relationships" id="259" r:id="Re5eadd84da2d451d"/>
    <p:sldId xmlns:r="http://schemas.openxmlformats.org/officeDocument/2006/relationships" id="260" r:id="R308701ea25cd4e3c"/>
    <p:sldId xmlns:r="http://schemas.openxmlformats.org/officeDocument/2006/relationships" id="261" r:id="R6c49bbc7bdab405b"/>
    <p:sldId xmlns:r="http://schemas.openxmlformats.org/officeDocument/2006/relationships" id="262" r:id="R17a4be74b5f54e9e"/>
    <p:sldId xmlns:r="http://schemas.openxmlformats.org/officeDocument/2006/relationships" id="263" r:id="Rc268757aab364f1e"/>
    <p:sldId xmlns:r="http://schemas.openxmlformats.org/officeDocument/2006/relationships" id="264" r:id="R05a96f29dbc04be9"/>
    <p:sldId xmlns:r="http://schemas.openxmlformats.org/officeDocument/2006/relationships" id="265" r:id="R97bf8e6912224cf4"/>
    <p:sldId xmlns:r="http://schemas.openxmlformats.org/officeDocument/2006/relationships" id="266" r:id="R0c291a7d548648cb"/>
    <p:sldId xmlns:r="http://schemas.openxmlformats.org/officeDocument/2006/relationships" id="267" r:id="R553246b4c3084b90"/>
    <p:sldId xmlns:r="http://schemas.openxmlformats.org/officeDocument/2006/relationships" id="268" r:id="Rd8c6ffb977464a39"/>
    <p:sldId xmlns:r="http://schemas.openxmlformats.org/officeDocument/2006/relationships" id="269" r:id="R3774c56afbd042c1"/>
    <p:sldId xmlns:r="http://schemas.openxmlformats.org/officeDocument/2006/relationships" id="270" r:id="R8f1763ecec054589"/>
    <p:sldId xmlns:r="http://schemas.openxmlformats.org/officeDocument/2006/relationships" id="271" r:id="R4eb4f12bb0e24b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a99455fc8d4d30" /><Relationship Type="http://schemas.openxmlformats.org/officeDocument/2006/relationships/slideMaster" Target="/ppt/slideMasters/slideMaster1.xml" Id="R8ee746563e0e4055" /><Relationship Type="http://schemas.openxmlformats.org/officeDocument/2006/relationships/notesMaster" Target="/ppt/notesMasters/notesMaster1.xml" Id="R4019f24cb41b4eab" /><Relationship Type="http://schemas.openxmlformats.org/officeDocument/2006/relationships/presProps" Target="/ppt/presProps.xml" Id="R38d9013277804d6a" /><Relationship Type="http://schemas.openxmlformats.org/officeDocument/2006/relationships/tableStyles" Target="/ppt/tableStyles.xml" Id="R03b5ef436c764a0c" /><Relationship Type="http://schemas.openxmlformats.org/officeDocument/2006/relationships/slide" Target="/ppt/slides/slide1.xml" Id="R18fdc3d0606d486e" /><Relationship Type="http://schemas.openxmlformats.org/officeDocument/2006/relationships/slide" Target="/ppt/slides/slide2.xml" Id="Raca5453ed7334b79" /><Relationship Type="http://schemas.openxmlformats.org/officeDocument/2006/relationships/slide" Target="/ppt/slides/slide3.xml" Id="Refce3cfc412c4d5e" /><Relationship Type="http://schemas.openxmlformats.org/officeDocument/2006/relationships/slide" Target="/ppt/slides/slide4.xml" Id="Re5eadd84da2d451d" /><Relationship Type="http://schemas.openxmlformats.org/officeDocument/2006/relationships/slide" Target="/ppt/slides/slide5.xml" Id="R308701ea25cd4e3c" /><Relationship Type="http://schemas.openxmlformats.org/officeDocument/2006/relationships/slide" Target="/ppt/slides/slide6.xml" Id="R6c49bbc7bdab405b" /><Relationship Type="http://schemas.openxmlformats.org/officeDocument/2006/relationships/slide" Target="/ppt/slides/slide7.xml" Id="R17a4be74b5f54e9e" /><Relationship Type="http://schemas.openxmlformats.org/officeDocument/2006/relationships/slide" Target="/ppt/slides/slide8.xml" Id="Rc268757aab364f1e" /><Relationship Type="http://schemas.openxmlformats.org/officeDocument/2006/relationships/slide" Target="/ppt/slides/slide9.xml" Id="R05a96f29dbc04be9" /><Relationship Type="http://schemas.openxmlformats.org/officeDocument/2006/relationships/slide" Target="/ppt/slides/slide10.xml" Id="R97bf8e6912224cf4" /><Relationship Type="http://schemas.openxmlformats.org/officeDocument/2006/relationships/slide" Target="/ppt/slides/slide11.xml" Id="R0c291a7d548648cb" /><Relationship Type="http://schemas.openxmlformats.org/officeDocument/2006/relationships/slide" Target="/ppt/slides/slide12.xml" Id="R553246b4c3084b90" /><Relationship Type="http://schemas.openxmlformats.org/officeDocument/2006/relationships/slide" Target="/ppt/slides/slide13.xml" Id="Rd8c6ffb977464a39" /><Relationship Type="http://schemas.openxmlformats.org/officeDocument/2006/relationships/slide" Target="/ppt/slides/slide14.xml" Id="R3774c56afbd042c1" /><Relationship Type="http://schemas.openxmlformats.org/officeDocument/2006/relationships/slide" Target="/ppt/slides/slide15.xml" Id="R8f1763ecec054589" /><Relationship Type="http://schemas.openxmlformats.org/officeDocument/2006/relationships/slide" Target="/ppt/slides/slide16.xml" Id="R4eb4f12bb0e2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33a982381f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38d0b7138b4af5" /><Relationship Type="http://schemas.openxmlformats.org/officeDocument/2006/relationships/notesMaster" Target="/ppt/notesMasters/notesMaster1.xml" Id="R4a2099c507864b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ffb5f54c834b78" /><Relationship Type="http://schemas.openxmlformats.org/officeDocument/2006/relationships/notesMaster" Target="/ppt/notesMasters/notesMaster1.xml" Id="Rdb3fd5d488c244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e38df340624763" /><Relationship Type="http://schemas.openxmlformats.org/officeDocument/2006/relationships/notesMaster" Target="/ppt/notesMasters/notesMaster1.xml" Id="R472208d93a2c4b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f8ddbac1314343" /><Relationship Type="http://schemas.openxmlformats.org/officeDocument/2006/relationships/notesMaster" Target="/ppt/notesMasters/notesMaster1.xml" Id="Rf054e091614748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a2c308d53945ed" /><Relationship Type="http://schemas.openxmlformats.org/officeDocument/2006/relationships/notesMaster" Target="/ppt/notesMasters/notesMaster1.xml" Id="R5edbc462065746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2f4d1ae1b4d48" /><Relationship Type="http://schemas.openxmlformats.org/officeDocument/2006/relationships/notesMaster" Target="/ppt/notesMasters/notesMaster1.xml" Id="Re10b62a424b942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049eedf06b4cf1" /><Relationship Type="http://schemas.openxmlformats.org/officeDocument/2006/relationships/notesMaster" Target="/ppt/notesMasters/notesMaster1.xml" Id="R808af5a76f9f4e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d325c86df84354" /><Relationship Type="http://schemas.openxmlformats.org/officeDocument/2006/relationships/notesMaster" Target="/ppt/notesMasters/notesMaster1.xml" Id="R6d904d21aedf45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17a1e401ea4743" /><Relationship Type="http://schemas.openxmlformats.org/officeDocument/2006/relationships/notesMaster" Target="/ppt/notesMasters/notesMaster1.xml" Id="Rfd66082eed2545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2e004443394af2" /><Relationship Type="http://schemas.openxmlformats.org/officeDocument/2006/relationships/notesMaster" Target="/ppt/notesMasters/notesMaster1.xml" Id="Rff19c655f07947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e12daf82794377" /><Relationship Type="http://schemas.openxmlformats.org/officeDocument/2006/relationships/notesMaster" Target="/ppt/notesMasters/notesMaster1.xml" Id="R757b886cd42148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97779d88e94b00" /><Relationship Type="http://schemas.openxmlformats.org/officeDocument/2006/relationships/notesMaster" Target="/ppt/notesMasters/notesMaster1.xml" Id="Raa9887eec9a946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e944f1357f48b5" /><Relationship Type="http://schemas.openxmlformats.org/officeDocument/2006/relationships/notesMaster" Target="/ppt/notesMasters/notesMaster1.xml" Id="R3c4bffe3426c4f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0a13018b954115" /><Relationship Type="http://schemas.openxmlformats.org/officeDocument/2006/relationships/notesMaster" Target="/ppt/notesMasters/notesMaster1.xml" Id="R8de08d27f9994f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3a44da5a974f7a" /><Relationship Type="http://schemas.openxmlformats.org/officeDocument/2006/relationships/notesMaster" Target="/ppt/notesMasters/notesMaster1.xml" Id="Rc8643ff7454c47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72eda15fbc4fcb" /><Relationship Type="http://schemas.openxmlformats.org/officeDocument/2006/relationships/notesMaster" Target="/ppt/notesMasters/notesMaster1.xml" Id="R3bd4148a253545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GatsbyClub是现有项目代号，不是本次确认的品牌名称。本演示供合伙人先修改再定稿，不使用竞争对手照片冒充本俱乐部实拍。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依据：docs/项目定位与业务共识.md，2026-10-27；outputs/club-launch-drafts-20261030/启动工作方案.md，2026-10-30。会籍配置、活动和交付为建议，不是已批准的对外承诺。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ed08eb6dc344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b40e53d0b4b9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d3b4b222345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ae2c91d3b422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bed360b284b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9b570536445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183F8E-5ABF-4523-BD97-78B3EC97B0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7FE41C-1AD4-4556-A6ED-AC74D6B508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3934789-E378-4B45-A868-DF99452FB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4ECBFE-3662-4F85-854E-C5260028C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63F91E-653A-48BB-9149-6FAADC8C1D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D8E6198-411E-4B2D-89D3-F724CD9B2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194AC9-B271-45D6-A572-C8BC9739BA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716328-DC2F-46C7-A380-7232EA5F8D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BE99F0-C143-490E-AC2F-3928BEBDF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3B2162-43AD-403A-B502-3CC2F4B295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34cddd5744cd6" /><Relationship Type="http://schemas.openxmlformats.org/officeDocument/2006/relationships/slideLayout" Target="/ppt/slideLayouts/slideLayout1.xml" Id="R8c00ba36383a48e6" /><Relationship Type="http://schemas.openxmlformats.org/officeDocument/2006/relationships/slideLayout" Target="/ppt/slideLayouts/slideLayout2.xml" Id="R169c9c9097174f00" /><Relationship Type="http://schemas.openxmlformats.org/officeDocument/2006/relationships/slideLayout" Target="/ppt/slideLayouts/slideLayout3.xml" Id="Ra2b7f7931594424e" /><Relationship Type="http://schemas.openxmlformats.org/officeDocument/2006/relationships/slideLayout" Target="/ppt/slideLayouts/slideLayout4.xml" Id="R56f0e17e48544182" /><Relationship Type="http://schemas.openxmlformats.org/officeDocument/2006/relationships/slideLayout" Target="/ppt/slideLayouts/slideLayout5.xml" Id="Rdf28be3db76942b9" /><Relationship Type="http://schemas.openxmlformats.org/officeDocument/2006/relationships/slideLayout" Target="/ppt/slideLayouts/slideLayout6.xml" Id="Rdade1b7e2c3f46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00ba36383a48e6"/>
    <p:sldLayoutId xmlns:r="http://schemas.openxmlformats.org/officeDocument/2006/relationships" id="2147483650" r:id="R169c9c9097174f00"/>
    <p:sldLayoutId xmlns:r="http://schemas.openxmlformats.org/officeDocument/2006/relationships" id="2147483651" r:id="Ra2b7f7931594424e"/>
    <p:sldLayoutId xmlns:r="http://schemas.openxmlformats.org/officeDocument/2006/relationships" id="2147483652" r:id="R56f0e17e48544182"/>
    <p:sldLayoutId xmlns:r="http://schemas.openxmlformats.org/officeDocument/2006/relationships" id="2147483653" r:id="Rdf28be3db76942b9"/>
    <p:sldLayoutId xmlns:r="http://schemas.openxmlformats.org/officeDocument/2006/relationships" id="2147483654" r:id="Rdade1b7e2c3f46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95db1d2084261" /><Relationship Type="http://schemas.openxmlformats.org/officeDocument/2006/relationships/notesSlide" Target="/ppt/notesSlides/notesSlide1.xml" Id="Rda1ebe34c1e1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8b6184af0a499e" /><Relationship Type="http://schemas.openxmlformats.org/officeDocument/2006/relationships/notesSlide" Target="/ppt/notesSlides/notesSlide2.xml" Id="R935a3a0246f441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f657c0e2f4c63" /><Relationship Type="http://schemas.openxmlformats.org/officeDocument/2006/relationships/notesSlide" Target="/ppt/notesSlides/notesSlide3.xml" Id="Rf3f6e5fd4a574a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001e5038c46d6" /><Relationship Type="http://schemas.openxmlformats.org/officeDocument/2006/relationships/notesSlide" Target="/ppt/notesSlides/notesSlide4.xml" Id="R21167919ba5b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9dcfde39443c2" /><Relationship Type="http://schemas.openxmlformats.org/officeDocument/2006/relationships/notesSlide" Target="/ppt/notesSlides/notesSlide5.xml" Id="Reba5360fff8e4c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7024b5b5443d8" /><Relationship Type="http://schemas.openxmlformats.org/officeDocument/2006/relationships/notesSlide" Target="/ppt/notesSlides/notesSlide6.xml" Id="R51a9a5d11b8f43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26fd992e446e3" /><Relationship Type="http://schemas.openxmlformats.org/officeDocument/2006/relationships/notesSlide" Target="/ppt/notesSlides/notesSlide7.xml" Id="Rd5d99cf9b0ab40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afc081f704225" /><Relationship Type="http://schemas.openxmlformats.org/officeDocument/2006/relationships/notesSlide" Target="/ppt/notesSlides/notesSlide8.xml" Id="R6c635182d9ed4e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07e775a374c71" /><Relationship Type="http://schemas.openxmlformats.org/officeDocument/2006/relationships/notesSlide" Target="/ppt/notesSlides/notesSlide9.xml" Id="Rce5970372c414b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4b240219e42a7" /><Relationship Type="http://schemas.openxmlformats.org/officeDocument/2006/relationships/notesSlide" Target="/ppt/notesSlides/notesSlide10.xml" Id="Ree3a3c8e580344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694f7e05744b5" /><Relationship Type="http://schemas.openxmlformats.org/officeDocument/2006/relationships/notesSlide" Target="/ppt/notesSlides/notesSlide11.xml" Id="R292d9e8018ed4f6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99a5036d6478c" /><Relationship Type="http://schemas.openxmlformats.org/officeDocument/2006/relationships/notesSlide" Target="/ppt/notesSlides/notesSlide12.xml" Id="R20393083f9054c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bad7f835d74b84" /><Relationship Type="http://schemas.openxmlformats.org/officeDocument/2006/relationships/notesSlide" Target="/ppt/notesSlides/notesSlide13.xml" Id="Rf31bd20dcbc749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43ed304ae340c6" /><Relationship Type="http://schemas.openxmlformats.org/officeDocument/2006/relationships/notesSlide" Target="/ppt/notesSlides/notesSlide14.xml" Id="R789825b570344f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7df320ae9d4aeb" /><Relationship Type="http://schemas.openxmlformats.org/officeDocument/2006/relationships/notesSlide" Target="/ppt/notesSlides/notesSlide15.xml" Id="Reaf68b9f31a548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1fb6d257340dc" /><Relationship Type="http://schemas.openxmlformats.org/officeDocument/2006/relationships/notesSlide" Target="/ppt/notesSlides/notesSlide16.xml" Id="R43a0c5d2c4da41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2FB4D-0A13-4475-9C7B-8E7F852C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GATSBYCLUB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86086-89C7-4F75-BE3C-E7FF7975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48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俱乐部项目介绍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D9549-D8D8-4E26-963D-A232BCB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5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线下交友与共同体验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0537-CC65-444A-98D0-AE83173A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会员方案与合作讨论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7E402-1B83-4403-AB85-AEC6B4C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项目名称待确认   2026年10月30日</a:t>
            </a:r>
          </a:p>
        </p:txBody>
      </p:sp>
    </p:spTree>
    <p:extLst>
      <p:ext uri="{BB962C8B-B14F-4D97-AF65-F5344CB8AC3E}">
        <p14:creationId xmlns:p14="http://schemas.microsoft.com/office/powerpoint/2010/main" val="1929424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B041D-9CDE-45F1-B8BC-ACE4F71C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在这里，可以怎样参加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4B14C-D005-4B47-9FB9-C717F77B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按共同话题与参加目的认识彼此。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67C30-8FC1-4F94-8EBB-F4FD72BE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E149E-097F-4870-A7A3-19B13E7D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EDFD3-2B00-4944-97D4-48C1AAC6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交流正在做的事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33E49-128F-4055-931B-6356C501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主题餐桌、分享与讨论，认识相关经历的人。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42FEE-133E-4CFF-8770-89D7A1D1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一起体验生活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4C4BF-F195-4FBB-84B7-892E6A95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餐饮、艺术、运动和城市活动，给相处一个自然场景。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6E6C-85E6-4222-997C-00058782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认真发展关系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2063B-7EBA-412D-8380-B4C483B0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有恋爱意愿的客户参加婚恋专场，伴侣可选择共同体验。</a:t>
            </a:r>
          </a:p>
        </p:txBody>
      </p:sp>
    </p:spTree>
    <p:extLst>
      <p:ext uri="{BB962C8B-B14F-4D97-AF65-F5344CB8AC3E}">
        <p14:creationId xmlns:p14="http://schemas.microsoft.com/office/powerpoint/2010/main" val="1125973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F2841-967E-4532-B66F-31C8A61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适合的人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71942-774D-4677-892B-9AB10CFE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准入围绕教育、职业、资产、专业贡献或整体适配，具体按活动审核。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BD83A-A228-47C6-92DB-DEEDC384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5A006-F9EB-4B42-8AA2-28B12F0E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0596D-9D55-4668-9014-D1FC8CB6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付费参加者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3CB4A-68F6-48E0-B186-E02CF011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愿意交流，有合适的时间和预算，希望扩大生活圈。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265C5-F69D-4B62-906C-F75F2462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核心嘉宾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637A3-126C-4913-902E-40DB7FB4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有专业内容、共同兴趣或活动贡献，愿意参与现场。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A5E4F-4776-4021-A482-C70C3B81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资源合作人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FB970-FA2D-4458-847F-2DB74680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愿意链接合适客户和资源，能落实具体合作事项。</a:t>
            </a:r>
          </a:p>
        </p:txBody>
      </p:sp>
    </p:spTree>
    <p:extLst>
      <p:ext uri="{BB962C8B-B14F-4D97-AF65-F5344CB8AC3E}">
        <p14:creationId xmlns:p14="http://schemas.microsoft.com/office/powerpoint/2010/main" val="12176493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E7FDD-A67F-4875-88D0-C706072E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活动内容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52B95-3812-4B72-B8B9-7E6FBF4E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同一批客户，可以按自己的兴趣参加不同活动。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F3E50-BE49-4089-B467-9B1DA3EB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CB2AD-E4E7-4FC1-9230-32A3BF8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39010-4D54-4191-A134-199C07E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主题餐桌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5986D-07AE-4D10-BD52-1FAFFD41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431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晚宴、下午茶、共同话题交流。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3471C-2EC3-47AD-9CAC-7B648247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分享与运动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4B757-6A6D-42E3-B93C-9BBDE725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行业分享、艺术、网球、高尔夫等体验。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FADB9-991B-4635-8C4D-CCE18B28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多日同行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70ECA-4926-4B4B-A0C6-ED3964E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338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旅行、游学及企业参访，按具体产品另行报名。</a:t>
            </a:r>
          </a:p>
        </p:txBody>
      </p:sp>
    </p:spTree>
    <p:extLst>
      <p:ext uri="{BB962C8B-B14F-4D97-AF65-F5344CB8AC3E}">
        <p14:creationId xmlns:p14="http://schemas.microsoft.com/office/powerpoint/2010/main" val="967139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20057-4D28-4285-9A89-32D6D761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首场建议 主题下午茶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A872C-2999-47B9-8B2C-758D0B0D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在北京认识几个聊得来的人，日期与场地待确认。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029FA-6763-4EF9-B05E-0032D4FA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F4B0E-54C5-4214-8B3D-CF6AD238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502E1-FFA9-4B3A-9057-E7DCB25A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12人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D9666-038F-4720-BB65-8A28767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003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43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3小时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AE951-E78A-4AAF-A5C1-4B81455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75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880元/人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472EA-EBB3-40BC-A950-FD881D8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建议规模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D1D3E-71DE-4C9B-BCDF-D645F03A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主题交流与自由认识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BBFCB-14E7-40C0-9E7A-EF4349CB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研究试价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57998-76D7-408E-A936-AA143E6B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包含茶点、主题引导、分组交流及基础物料。</a:t>
            </a:r>
          </a:p>
          <a:p xmlns:a="http://schemas.openxmlformats.org/drawingml/2006/main">
            <a:pPr>
              <a:def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10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本场以普通交友为目的，不安排婚恋互选。</a:t>
            </a:r>
          </a:p>
        </p:txBody>
      </p:sp>
    </p:spTree>
    <p:extLst>
      <p:ext uri="{BB962C8B-B14F-4D97-AF65-F5344CB8AC3E}">
        <p14:creationId xmlns:p14="http://schemas.microsoft.com/office/powerpoint/2010/main" val="1025721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34BE1-97F0-45D8-B3D6-CFA3AC1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一次活动怎样认识彼此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87BCE-4B83-4E0C-8FB4-2592BDC7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97878-5297-4707-B4C4-F9ED63C0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9ECFE-C02C-4A26-9E8A-4D2D4F91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先了解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30B47-577B-4C33-A4CD-92425D7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报名时说清自己的背景、兴趣和交流期待。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7A0AC-630F-4D72-BDED-5D72AC18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再相处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881CE-5BFD-4576-994A-4066A72D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两人交流、分桌讨论与自愿换桌，主持人帮助接话。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52FE4-9242-47B8-96EC-0190C92D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结束后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E1EC7-0CED-4AA2-8862-22004E3D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自愿留下反馈和下次兴趣，双方同意后再建立联系。</a:t>
            </a:r>
          </a:p>
        </p:txBody>
      </p:sp>
    </p:spTree>
    <p:extLst>
      <p:ext uri="{BB962C8B-B14F-4D97-AF65-F5344CB8AC3E}">
        <p14:creationId xmlns:p14="http://schemas.microsoft.com/office/powerpoint/2010/main" val="1145808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CE962-BAC0-43B2-AE4C-BBE1D7AC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基础会员与理事权益建议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E6F46-2A2C-4A54-84D6-AF427F7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服务期暂按12个月讨论，具体权益及合同尚待确认。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1F74C-43CF-4E7E-A953-EC29B38C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FAED6-5801-468C-AD0F-B47DF454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E51CD-47C7-4260-BE92-395CA9CED4AE}"/>
              </a:ext>
            </a:extLst>
          </p:cNvPr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08204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2095500"/>
                <a:gridCol w="6724650"/>
              </a:tblGrid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DD1"/>
                      </a:solidFill>
                      <a:prstDash val="solid"/>
                    </a:lnL>
                    <a:lnR w="9525">
                      <a:solidFill>
                        <a:srgbClr val="D8DDD1"/>
                      </a:solidFill>
                      <a:prstDash val="solid"/>
                    </a:lnR>
                    <a:lnT w="9525">
                      <a:solidFill>
                        <a:srgbClr val="D8DDD1"/>
                      </a:solidFill>
                      <a:prstDash val="solid"/>
                    </a:lnT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243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价格框架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T w="9525">
                      <a:solidFill>
                        <a:srgbClr val="D8DDD1"/>
                      </a:solidFill>
                      <a:prstDash val="solid"/>
                    </a:lnT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243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建议权益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T w="9525">
                      <a:solidFill>
                        <a:srgbClr val="D8DDD1"/>
                      </a:solidFill>
                      <a:prstDash val="solid"/>
                    </a:lnT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243E35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基础会员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DD1"/>
                      </a:solidFill>
                      <a:prstDash val="solid"/>
                    </a:lnL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1,280元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2场沙龙、入会沟通与报名服务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理事会员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DD1"/>
                      </a:solidFill>
                      <a:prstDash val="solid"/>
                    </a:lnL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19,800元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12场沙龙、4场晚宴、2场体验及交流服务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54066-8987-4B88-9F3C-C48A09BB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旅行、超出权益次数的活动及定制服务另行收费。</a:t>
            </a:r>
          </a:p>
        </p:txBody>
      </p:sp>
    </p:spTree>
    <p:extLst>
      <p:ext uri="{BB962C8B-B14F-4D97-AF65-F5344CB8AC3E}">
        <p14:creationId xmlns:p14="http://schemas.microsoft.com/office/powerpoint/2010/main" val="5722124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AD33D-D418-444C-81E2-3A2CF0DF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会籍怎样使用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E1367-6CA3-4F69-B3DF-A8F8C427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27BE4-86D3-47DA-9AE9-DBAEAC16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28215-EDD2-4F40-97C2-0B7286E1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报名与预约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B2F22-74A3-466F-99C9-92FF116A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按已公布日历选择活动，满员候补，特殊需求提前沟通。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F6D5C-FFDC-47F9-B1CB-13DB2944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每场说明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8849-1D0D-4B3D-97EF-85A4B400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餐饮、器材、教练等含项分别写清，避免报名后产生误解。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D5357-E0D5-462E-8D60-0550A936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使用与调整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3058F-383E-47BD-B89C-96B6D0A4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本人权益、取消、延期与未使用权益处理，在确认文件中说明。</a:t>
            </a:r>
          </a:p>
        </p:txBody>
      </p:sp>
    </p:spTree>
    <p:extLst>
      <p:ext uri="{BB962C8B-B14F-4D97-AF65-F5344CB8AC3E}">
        <p14:creationId xmlns:p14="http://schemas.microsoft.com/office/powerpoint/2010/main" val="1230013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E5916-7F19-44A1-A022-161E47AA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怎样加入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FC4C0-99A3-4473-86A3-B5A9281B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4343F-F370-4B26-98EA-34E419A7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F8B7E-2337-41DD-8B18-DE85295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了解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AF995-5213-49ED-8ABF-0FBFA937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先看活动主题、对象、规格与收费。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F8B56-FA79-4471-BD90-52FE75E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沟通与审核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2095A-4423-49A5-BAA0-97D31CAF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用简短交流确认是否适合，再核实本场必要信息。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33798-E6BB-4ED5-B130-37C7D3FD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确认与参加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01D41-7327-40D9-B124-A88F70E7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条款、收款及交付准备齐备后，再确认报名或会籍。</a:t>
            </a:r>
          </a:p>
        </p:txBody>
      </p:sp>
    </p:spTree>
    <p:extLst>
      <p:ext uri="{BB962C8B-B14F-4D97-AF65-F5344CB8AC3E}">
        <p14:creationId xmlns:p14="http://schemas.microsoft.com/office/powerpoint/2010/main" val="1507924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A85A3-D9C0-45B7-BB96-4CB8AEE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隐私与现场体验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5DD09-80D6-4F73-947F-DD8B85FE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D72B-73DD-479F-B7E7-5B9D0CD6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7A8B7-E730-4A96-945A-B626B5DD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信息有边界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F029B-C3E6-42F4-AD50-933DDA15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只收集与审核和交付相关的资料，不公开敏感信息。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BE5FE-9686-41B0-AD9A-91A6C78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相处有选择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15DA0-9FA3-4A5B-AFE1-A091EAB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拍摄、换桌和交换联系方式尊重本人意愿。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A0DE7-D2F2-465A-822C-8180E729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服务有响应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4ECA2-611F-47D3-B514-F95DA97C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主持与执行人员负责现场秩序、反馈和后续问题。</a:t>
            </a:r>
          </a:p>
        </p:txBody>
      </p:sp>
    </p:spTree>
    <p:extLst>
      <p:ext uri="{BB962C8B-B14F-4D97-AF65-F5344CB8AC3E}">
        <p14:creationId xmlns:p14="http://schemas.microsoft.com/office/powerpoint/2010/main" val="1511140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38ABC-7B58-49D1-9D1D-4F49209C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旅行与游学方向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D3491-3B3B-49DD-AF8A-923F3AF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以下是产品构想，线路、承办及导师资源尚待核实。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564C3-536A-4BD1-8DA0-76C4F648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53592-62D2-46F5-A163-023D3B67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DD55E-8A7A-4908-96FC-0ABFAEAB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共同兴趣旅行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65D03-78FD-4554-A846-0D39D93F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把同行者、现场组织与目的地服务分别设计。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ECF2E-06E9-4B6E-9117-CDE47D2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企业参访与游学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BDC04-7623-4B3A-936A-4F2407C4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先确认学习主题和真实交流机会，再安排旅行内容。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6B6CA-D685-445A-B193-1C5CD915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伴侣共同体验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EDE7A-FA07-434A-AC88-5189C606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按关系意愿设计活动，专业引导与服务边界另行确定。</a:t>
            </a:r>
          </a:p>
        </p:txBody>
      </p:sp>
    </p:spTree>
    <p:extLst>
      <p:ext uri="{BB962C8B-B14F-4D97-AF65-F5344CB8AC3E}">
        <p14:creationId xmlns:p14="http://schemas.microsoft.com/office/powerpoint/2010/main" val="18632766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B9A3F-CCA5-4A99-BAFE-96B1119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下一次见面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22D31-DE9C-4EA8-A621-0D22C111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选择一个真正感兴趣的主题，再决定怎样长期参加。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27BB51-9CF3-4F55-BE9F-E8216547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会员方案建议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D2103-B743-4372-BE8B-EB4E4096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F7B17-CD5C-4C17-B2B3-598E23C6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700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先了解主题和同行条件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8CAB-C006-4A25-BE99-9FEFFB7D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告诉我们想认识什么样的人、喜欢怎样的交流。</a:t>
            </a:r>
          </a:p>
          <a:p xmlns:a="http://schemas.openxmlformats.org/drawingml/2006/main">
            <a:pPr>
              <a:def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250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具体活动开放后，由项目发起人说明安排与报名方式。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F69D0-06C9-455F-913D-72FDC2E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品牌名称、咨询入口与首场日期确认后补入正式对外版本。</a:t>
            </a:r>
          </a:p>
        </p:txBody>
      </p:sp>
    </p:spTree>
    <p:extLst>
      <p:ext uri="{BB962C8B-B14F-4D97-AF65-F5344CB8AC3E}">
        <p14:creationId xmlns:p14="http://schemas.microsoft.com/office/powerpoint/2010/main" val="11312640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428A6-7551-47D3-B3EA-8BB3A125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资源合作档价格与名额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F2663-3C40-4202-812E-6698108A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以下价格与数量已统一，具体合作权益与名额规则仍待定。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E31AD-E95F-4E4B-B3F2-F0779787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合作讨论附页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AA5E1-8BBD-4FBC-B8A6-8F27326F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171F2-075B-41E0-84F6-C306772FB0A5}"/>
              </a:ext>
            </a:extLst>
          </p:cNvPr>
          <p:cNvGraphicFramePr/>
          <p:nvPr/>
        </p:nvGraphicFramePr>
        <p:xfrm>
          <a:off xmlns:a="http://schemas.openxmlformats.org/drawingml/2006/main" x="685800" y="228600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2857500"/>
                <a:gridCol w="3009900"/>
              </a:tblGrid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合作档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DD1"/>
                      </a:solidFill>
                      <a:prstDash val="solid"/>
                    </a:lnL>
                    <a:lnR w="9525">
                      <a:solidFill>
                        <a:srgbClr val="D8DDD1"/>
                      </a:solidFill>
                      <a:prstDash val="solid"/>
                    </a:lnR>
                    <a:lnT w="9525">
                      <a:solidFill>
                        <a:srgbClr val="D8DDD1"/>
                      </a:solidFill>
                      <a:prstDash val="solid"/>
                    </a:lnT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243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当前价格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T w="9525">
                      <a:solidFill>
                        <a:srgbClr val="D8DDD1"/>
                      </a:solidFill>
                      <a:prstDash val="solid"/>
                    </a:lnT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243E3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配套名额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T w="9525">
                      <a:solidFill>
                        <a:srgbClr val="D8DDD1"/>
                      </a:solidFill>
                      <a:prstDash val="solid"/>
                    </a:lnT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243E35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城市或资源合作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DD1"/>
                      </a:solidFill>
                      <a:prstDash val="solid"/>
                    </a:lnL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39,800元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3个名额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高阶资源合作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DDD1"/>
                      </a:solidFill>
                      <a:prstDash val="solid"/>
                    </a:lnL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98,000元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00" b="0">
                          <a:solidFill>
                            <a:srgbClr val="243E35"/>
                          </a:solidFill>
                          <a:latin typeface="Source Han Serif CN"/>
                          <a:ea typeface="Source Han Serif CN"/>
                          <a:cs typeface="Source Han Serif CN"/>
                        </a:rPr>
                        <a:t>6个名额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DDD1"/>
                      </a:solidFill>
                      <a:prstDash val="solid"/>
                    </a:lnR>
                    <a:lnB w="9525">
                      <a:solidFill>
                        <a:srgbClr val="D8DDD1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CE04D-D9C9-4800-A560-3741C7AF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80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名额不自动等于现金返还、固定收益或公司股权。</a:t>
            </a:r>
          </a:p>
        </p:txBody>
      </p:sp>
    </p:spTree>
    <p:extLst>
      <p:ext uri="{BB962C8B-B14F-4D97-AF65-F5344CB8AC3E}">
        <p14:creationId xmlns:p14="http://schemas.microsoft.com/office/powerpoint/2010/main" val="3553846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53355-7F79-4AD0-8EBC-A97EADB4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合作交付范围建议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85D24-A0E6-46ED-9636-15CC40F3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按具体交付约定合作，外采费用另列。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B7DAC-8CD0-4357-A2C6-5DFB6A9D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合作讨论附页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DF722-F9DA-4039-9065-C13F167C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3AEE5-A7D1-447D-B3AF-224AD80B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39,800元档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D4546-DE35-40DF-A86A-7439C18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本人理事权益、1场共创沙龙策划主持及3个名额。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05899-9965-46FF-8B5F-D1134B98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98,000元档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CF182-00E0-48FD-820D-9DAA3C97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本人理事权益、2场共创活动策划主持及6个名额。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F7F5-2C97-4776-BB4F-32D18BA3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共同确认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F3A2C-788A-4460-B2FE-9A804F0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场地餐饮、制作、人员、内容、取消与额外费用分别写清。</a:t>
            </a:r>
          </a:p>
        </p:txBody>
      </p:sp>
    </p:spTree>
    <p:extLst>
      <p:ext uri="{BB962C8B-B14F-4D97-AF65-F5344CB8AC3E}">
        <p14:creationId xmlns:p14="http://schemas.microsoft.com/office/powerpoint/2010/main" val="5546045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32A05-220E-4027-9E48-14F02C28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名额与收益待确认事项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A3036-54A0-4512-B84C-7905671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先把规则和成本算清，再决定是否推出合作产品。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9B688-550A-480B-BBFD-C7257D86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合作讨论附页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A3A42-0352-478D-AC40-DF48713D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16149-233C-4FBB-8EDB-2C62546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名额内容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9C336-686D-4316-90AD-76E4FF49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基础或理事权益、审核、期限、本人及受邀者如何使用。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03885-7948-446C-8065-2664ECC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收益机制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63513-0B23-43D5-8EFC-8F48C901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推荐奖励、工作报酬及经营分配分别确认，不自动叠加。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FB5D5-0A13-4344-A177-189782CB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交付与退出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7F2FC-12FC-4807-87AA-9009549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履约标准、结算、退款、未完成事项及退出责任。</a:t>
            </a:r>
          </a:p>
        </p:txBody>
      </p:sp>
    </p:spTree>
    <p:extLst>
      <p:ext uri="{BB962C8B-B14F-4D97-AF65-F5344CB8AC3E}">
        <p14:creationId xmlns:p14="http://schemas.microsoft.com/office/powerpoint/2010/main" val="12411007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6239B-B311-47CF-AB3E-B7D63F17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3300" b="1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合作确认流程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0682E-9DB7-463A-8B49-BF1B567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7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合作人身份与公司的股权投资安排分别处理。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3966B-2E69-442A-B957-A8A3332D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125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合作讨论附页  2026年10月30日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2CE3A-9755-4934-AB8D-0059AA75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960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1350" b="0">
                <a:solidFill>
                  <a:srgbClr val="5F6E65"/>
                </a:solidFill>
                <a:latin typeface="Source Han Serif CN"/>
                <a:ea typeface="Source Han Serif CN"/>
                <a:cs typeface="Source Han Serif C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BE1CF-C4F3-475E-9D28-09D6C61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确认适配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85403-054D-4759-971D-A343923F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3837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说明真实资源、能投入的时间与可执行的合作事项。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D5742-571F-4E0F-B72D-7813FCB3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核算与约定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C2D1A-FCB4-43DE-B1EA-9D4B11A7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38500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选定名额内容和交付清单，核算成本，交律师审定文件。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69198-A44D-4455-81FF-A089BBDC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1">
                <a:solidFill>
                  <a:srgbClr val="A75A3B"/>
                </a:solidFill>
                <a:latin typeface="Source Han Serif CN"/>
                <a:ea typeface="Source Han Serif CN"/>
                <a:cs typeface="Source Han Serif CN"/>
              </a:rPr>
              <a:t>开始合作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D0DDD-D84C-4ED4-A358-9111F471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38625"/>
            <a:ext cx="7581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defPPr>
            <a:lvl1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1pPr>
            <a:lvl2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2pPr>
            <a:lvl3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3pPr>
            <a:lvl4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4pPr>
            <a:lvl5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5pPr>
            <a:lvl6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6pPr>
            <a:lvl7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7pPr>
            <a:lvl8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8pPr>
            <a:lvl9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defRPr>
            </a:pPr>
            <a:r>
              <a:rPr sz="2025" b="0">
                <a:solidFill>
                  <a:srgbClr val="243E35"/>
                </a:solidFill>
                <a:latin typeface="Source Han Serif CN"/>
                <a:ea typeface="Source Han Serif CN"/>
                <a:cs typeface="Source Han Serif CN"/>
              </a:rPr>
              <a:t>批准预算和收款安排后执行，按实际交付与反馈复盘。</a:t>
            </a:r>
          </a:p>
        </p:txBody>
      </p:sp>
    </p:spTree>
    <p:extLst>
      <p:ext uri="{BB962C8B-B14F-4D97-AF65-F5344CB8AC3E}">
        <p14:creationId xmlns:p14="http://schemas.microsoft.com/office/powerpoint/2010/main" val="192504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2026-10-30T08:13:20.2560000Z</dcterms:created>
  <dcterms:modified xsi:type="dcterms:W3CDTF">2026-10-30T08:13:20.2560000Z</dcterms:modified>
</coreProperties>
</file>